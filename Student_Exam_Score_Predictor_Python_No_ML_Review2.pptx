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7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25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4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003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01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6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1645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03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39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0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3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08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97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91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74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95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604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425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161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687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117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981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084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841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520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256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079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39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54864" cy="6858000"/>
          </a:xfrm>
          <a:prstGeom prst="rect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29800" y="502920"/>
            <a:ext cx="1097280" cy="109728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29800" y="576072"/>
            <a:ext cx="1097280" cy="102412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25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93776"/>
            <a:ext cx="188595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75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KLH</a:t>
            </a:r>
          </a:p>
          <a:p>
            <a:pPr algn="l">
              <a:defRPr sz="1062" b="1">
                <a:solidFill>
                  <a:srgbClr val="EFB746"/>
                </a:solidFill>
                <a:latin typeface="Aptos"/>
              </a:defRPr>
            </a:pPr>
            <a:r>
              <a:rPr dirty="0"/>
              <a:t>BACHUPALLY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3318"/>
            <a:ext cx="81381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STUDENT EXAM</a:t>
            </a:r>
            <a:br>
              <a:rPr dirty="0"/>
            </a:br>
            <a:r>
              <a:rPr dirty="0"/>
              <a:t>SCORE PREDICTOR</a:t>
            </a:r>
          </a:p>
          <a:p>
            <a:pPr>
              <a:defRPr sz="1500">
                <a:solidFill>
                  <a:srgbClr val="EFB746"/>
                </a:solidFill>
                <a:latin typeface="Aptos"/>
              </a:defRPr>
            </a:pPr>
            <a:r>
              <a:rPr dirty="0"/>
              <a:t>Python-Based Academic Performance Prediction (Without Machine Learning)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305" y="4389217"/>
            <a:ext cx="160020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440738"/>
            <a:ext cx="1600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SECOND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4133" y="5433822"/>
            <a:ext cx="2492990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FB746"/>
                </a:solidFill>
              </a:defRPr>
            </a:pPr>
            <a:r>
              <a:rPr lang="en-IN" dirty="0"/>
              <a:t>Name of guide :</a:t>
            </a:r>
          </a:p>
          <a:p>
            <a:pPr>
              <a:defRPr sz="1200" b="1">
                <a:solidFill>
                  <a:srgbClr val="EFB746"/>
                </a:solidFill>
              </a:defRPr>
            </a:pPr>
            <a:r>
              <a:rPr lang="en-IN" dirty="0"/>
              <a:t>DR.N.SUNANDA</a:t>
            </a:r>
            <a:endParaRPr dirty="0"/>
          </a:p>
          <a:p>
            <a:pPr>
              <a:defRPr sz="1500">
                <a:solidFill>
                  <a:srgbClr val="FFFFFF"/>
                </a:solidFill>
              </a:defRPr>
            </a:pPr>
            <a:r>
              <a:rPr dirty="0"/>
              <a:t>________________________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dirty="0"/>
              <a:t>KLH </a:t>
            </a:r>
            <a:r>
              <a:rPr dirty="0" err="1"/>
              <a:t>Bachupally</a:t>
            </a:r>
            <a:r>
              <a:rPr dirty="0"/>
              <a:t> Campus, Hyderabad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1. Project Title &amp; Team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Review 2 • Team and project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91440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TEAM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05740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S.No.</a:t>
                      </a:r>
                    </a:p>
                  </a:txBody>
                  <a:tcPr>
                    <a:solidFill>
                      <a:srgbClr val="12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University ID</a:t>
                      </a:r>
                    </a:p>
                  </a:txBody>
                  <a:tcPr>
                    <a:solidFill>
                      <a:srgbClr val="12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12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2420030035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Shiva Ganesh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2420030108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Suraj Gaur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2420030673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M. Jathin Kumar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2057400"/>
            <a:ext cx="3794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35240" y="2057400"/>
            <a:ext cx="73152" cy="1143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36408" y="2203704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Project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62432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50">
                <a:solidFill>
                  <a:srgbClr val="202732"/>
                </a:solidFill>
                <a:latin typeface="Aptos"/>
              </a:defRPr>
            </a:pPr>
            <a:r>
              <a:t>Student Exam Score Predictor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401568"/>
            <a:ext cx="3794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3401568"/>
            <a:ext cx="73152" cy="1143000"/>
          </a:xfrm>
          <a:prstGeom prst="rect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3547872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3968496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202732"/>
                </a:solidFill>
                <a:latin typeface="Aptos"/>
              </a:defRPr>
            </a:pPr>
            <a:r>
              <a:t>Machine Learning • Educational Data Mining • Learning Analytics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736592"/>
            <a:ext cx="3794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5240" y="4736592"/>
            <a:ext cx="73152" cy="114300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36408" y="4882896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Institution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53035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>
                <a:solidFill>
                  <a:srgbClr val="202732"/>
                </a:solidFill>
                <a:latin typeface="Aptos"/>
              </a:defRPr>
            </a:pPr>
            <a:r>
              <a:t>KLH Bachupally Campus, Hyderabad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Why exam-score prediction is useful in higher education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105156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1051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5349240" cy="150876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73152" cy="150876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57984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Core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78608"/>
            <a:ext cx="498347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202732"/>
                </a:solidFill>
                <a:latin typeface="Aptos"/>
              </a:defRPr>
            </a:pPr>
            <a:r>
              <a:t>Students' final exam outcomes are influenced by multiple academic and behavioral factors. Traditional evaluation often identifies weak performance only after marks are published.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11680"/>
            <a:ext cx="5257800" cy="150876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2011680"/>
            <a:ext cx="73152" cy="150876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21579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Real-World Relevance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578608"/>
            <a:ext cx="48920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202732"/>
                </a:solidFill>
                <a:latin typeface="Aptos"/>
              </a:defRPr>
            </a:pPr>
            <a:r>
              <a:t>An early prediction can help faculty identify at-risk learners, provide targeted support, and make academic interventions more timely.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94760"/>
            <a:ext cx="5349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794760"/>
            <a:ext cx="73152" cy="1508760"/>
          </a:xfrm>
          <a:prstGeom prst="rect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941064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61688"/>
            <a:ext cx="498347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20">
                <a:solidFill>
                  <a:srgbClr val="202732"/>
                </a:solidFill>
                <a:latin typeface="Aptos"/>
              </a:defRPr>
            </a:pPr>
            <a:r>
              <a:t>Use existing student information—such as previous marks, attendance, study time, failures and assessment scores—to estimate likely exam performance.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94760"/>
            <a:ext cx="5257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794760"/>
            <a:ext cx="73152" cy="1508760"/>
          </a:xfrm>
          <a:prstGeom prst="rect">
            <a:avLst/>
          </a:prstGeom>
          <a:solidFill>
            <a:srgbClr val="27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94106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Research Basis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4361688"/>
            <a:ext cx="48920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202732"/>
                </a:solidFill>
                <a:latin typeface="Aptos"/>
              </a:defRPr>
            </a:pPr>
            <a:r>
              <a:t>Recent educational-data-mining studies show that ML models can predict academic outcomes and support early-warning systems, while interpretability and fairness remain important gaps.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Specific objectives and expected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123444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1234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0392" y="2194560"/>
            <a:ext cx="502920" cy="502920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29514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7627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</a:defRPr>
            </a:pPr>
            <a:r>
              <a:t>Collect &amp; prepare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78608"/>
            <a:ext cx="1984839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732"/>
                </a:solidFill>
              </a:defRPr>
            </a:pPr>
            <a:r>
              <a:rPr dirty="0"/>
              <a:t>Build a clean dataset from academic </a:t>
            </a:r>
            <a:endParaRPr lang="en-IN" dirty="0"/>
          </a:p>
          <a:p>
            <a:pPr>
              <a:defRPr sz="1050">
                <a:solidFill>
                  <a:srgbClr val="202732"/>
                </a:solidFill>
              </a:defRPr>
            </a:pPr>
            <a:r>
              <a:rPr dirty="0"/>
              <a:t>and relevant student attributes.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201168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33672" y="2194560"/>
            <a:ext cx="502920" cy="502920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33672" y="229514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17627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</a:defRPr>
            </a:pPr>
            <a:r>
              <a:t>Identify important factors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578608"/>
            <a:ext cx="177484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732"/>
                </a:solidFill>
              </a:defRPr>
            </a:pPr>
            <a:r>
              <a:rPr dirty="0"/>
              <a:t>Study which variables contribute</a:t>
            </a:r>
            <a:endParaRPr lang="en-IN" dirty="0"/>
          </a:p>
          <a:p>
            <a:pPr>
              <a:defRPr sz="1050">
                <a:solidFill>
                  <a:srgbClr val="202732"/>
                </a:solidFill>
              </a:defRPr>
            </a:pPr>
            <a:r>
              <a:rPr dirty="0"/>
              <a:t> most to exam-score prediction.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01168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616952" y="2194560"/>
            <a:ext cx="502920" cy="502920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16952" y="229514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17627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</a:defRPr>
            </a:pPr>
            <a:r>
              <a:t>Train ML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578608"/>
            <a:ext cx="2291012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732"/>
                </a:solidFill>
              </a:defRPr>
            </a:pPr>
            <a:r>
              <a:rPr dirty="0"/>
              <a:t>Compare suitable regression/classification </a:t>
            </a:r>
            <a:endParaRPr lang="en-IN" dirty="0"/>
          </a:p>
          <a:p>
            <a:pPr>
              <a:defRPr sz="1050">
                <a:solidFill>
                  <a:srgbClr val="202732"/>
                </a:solidFill>
              </a:defRPr>
            </a:pPr>
            <a:r>
              <a:rPr dirty="0"/>
              <a:t>algorithms.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794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0392" y="3977640"/>
            <a:ext cx="502920" cy="502920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407822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95935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</a:defRPr>
            </a:pPr>
            <a:r>
              <a:t>Evaluate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361688"/>
            <a:ext cx="212750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732"/>
                </a:solidFill>
              </a:defRPr>
            </a:pPr>
            <a:r>
              <a:rPr dirty="0"/>
              <a:t>Use MAE, RMSE, R² and/or accuracy</a:t>
            </a:r>
            <a:endParaRPr lang="en-IN" dirty="0"/>
          </a:p>
          <a:p>
            <a:pPr>
              <a:defRPr sz="1050">
                <a:solidFill>
                  <a:srgbClr val="202732"/>
                </a:solidFill>
              </a:defRPr>
            </a:pPr>
            <a:r>
              <a:rPr dirty="0"/>
              <a:t>, precision, recall and F1 as appropriate.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9080" y="3794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233672" y="3977640"/>
            <a:ext cx="502920" cy="502920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33672" y="407822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95935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</a:defRPr>
            </a:pPr>
            <a:r>
              <a:t>Generate useful predictions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2284" y="4480560"/>
            <a:ext cx="262283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732"/>
                </a:solidFill>
              </a:defRPr>
            </a:pPr>
            <a:r>
              <a:rPr dirty="0"/>
              <a:t>Provide an estimated score or</a:t>
            </a:r>
            <a:endParaRPr lang="en-IN" dirty="0"/>
          </a:p>
          <a:p>
            <a:pPr>
              <a:defRPr sz="1050">
                <a:solidFill>
                  <a:srgbClr val="202732"/>
                </a:solidFill>
              </a:defRPr>
            </a:pPr>
            <a:r>
              <a:rPr dirty="0"/>
              <a:t> performance category for early academic support.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3794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616952" y="3977640"/>
            <a:ext cx="502920" cy="502920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16952" y="407822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95935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</a:defRPr>
            </a:pPr>
            <a:r>
              <a:t>Support intervention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4451119"/>
            <a:ext cx="253306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732"/>
                </a:solidFill>
              </a:defRPr>
            </a:pPr>
            <a:r>
              <a:rPr dirty="0"/>
              <a:t>Present interpretable insights rather</a:t>
            </a:r>
            <a:endParaRPr lang="en-IN" dirty="0"/>
          </a:p>
          <a:p>
            <a:pPr>
              <a:defRPr sz="1050">
                <a:solidFill>
                  <a:srgbClr val="202732"/>
                </a:solidFill>
              </a:defRPr>
            </a:pPr>
            <a:r>
              <a:rPr dirty="0"/>
              <a:t> than treating the prediction as a final judgment.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4. Literature Survey / 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Key research findings relevant to the proposed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114300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1143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LITERATURE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5257800" cy="169164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93392"/>
            <a:ext cx="73152" cy="169164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139696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Tomasevic et al. (2020)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60320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70">
                <a:solidFill>
                  <a:srgbClr val="202732"/>
                </a:solidFill>
                <a:latin typeface="Aptos"/>
              </a:defRPr>
            </a:pPr>
            <a:r>
              <a:t>Compared supervised data-mining techniques for student exam performance; neural networks showed strong overall results.</a:t>
            </a:r>
            <a:br/>
            <a:r>
              <a:t>Computers &amp; Education, 143, 103676. DOI: 10.1016/j.compedu.2019.103676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93392"/>
            <a:ext cx="5257800" cy="169164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993392"/>
            <a:ext cx="73152" cy="169164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139696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Huang et al. (2021)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60320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70">
                <a:solidFill>
                  <a:srgbClr val="202732"/>
                </a:solidFill>
                <a:latin typeface="Aptos"/>
              </a:defRPr>
            </a:pPr>
            <a:r>
              <a:t>Systematic review of Student Performance Prediction (SPP): data collection → modeling → prediction → application; highlights personalized education.</a:t>
            </a:r>
            <a:br/>
            <a:r>
              <a:t>Frontiers in Psychology, 12, 698490. DOI: 10.3389/fpsyg.2021.698490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5257800" cy="169164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69164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4151376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Smart Learning Environments (2022)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572000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70">
                <a:solidFill>
                  <a:srgbClr val="202732"/>
                </a:solidFill>
                <a:latin typeface="Aptos"/>
              </a:defRPr>
            </a:pPr>
            <a:r>
              <a:t>Compared Random Forest, NN, SVM, Logistic Regression, Naïve Bayes and kNN for final-exam prediction; midterm grades were important predictors.</a:t>
            </a:r>
            <a:br/>
            <a:r>
              <a:t>Smart Learning Environments. DOI: 10.1186/s40561-022-00192-z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05072"/>
            <a:ext cx="5257800" cy="169164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4005072"/>
            <a:ext cx="73152" cy="169164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4151376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Khairy et al. (2024)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572000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70">
                <a:solidFill>
                  <a:srgbClr val="202732"/>
                </a:solidFill>
                <a:latin typeface="Aptos"/>
              </a:defRPr>
            </a:pPr>
            <a:r>
              <a:t>Compared Random Forest, Decision Tree, Naïve Bayes, Neural Network and KNN; RF and DT performed strongly for student performance classification.</a:t>
            </a:r>
            <a:br/>
            <a:r>
              <a:t>Education and Information Technologies, 29, 21621–21645. DOI: 10.1007/s10639-024-12619-w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Existing System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What current approaches do—and where the gap remains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91440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73152" cy="356616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5798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Existing Approaches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78608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202732"/>
                </a:solidFill>
                <a:latin typeface="Aptos"/>
              </a:defRPr>
            </a:pPr>
            <a:r>
              <a:t>• Manual analysis of marks and attendance</a:t>
            </a:r>
            <a:br/>
            <a:r>
              <a:t>• Rule-based identification of weak students</a:t>
            </a:r>
            <a:br/>
            <a:r>
              <a:t>• Python programs using structured student records</a:t>
            </a:r>
            <a:br/>
            <a:r>
              <a:t>• Weighted-score calculation for estimated final marks and performance bands</a:t>
            </a:r>
            <a:br/>
            <a:r>
              <a:t>• Rule-based thresholds for early identification of students needing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492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2011680"/>
            <a:ext cx="73152" cy="356616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2157984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Limitations / Research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578608"/>
            <a:ext cx="4983479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202732"/>
                </a:solidFill>
                <a:latin typeface="Aptos"/>
              </a:defRPr>
            </a:pPr>
            <a:r>
              <a:t>• Manual systems can be slow and difficult to maintain for many students</a:t>
            </a:r>
            <a:br/>
            <a:r>
              <a:t>• Results may not generalize to a specific university or course</a:t>
            </a:r>
            <a:br/>
            <a:r>
              <a:t>• A simple formula is transparent, so students and faculty can see how the result was obtained</a:t>
            </a:r>
            <a:br/>
            <a:r>
              <a:t>• Fairness and bias can be overlooked</a:t>
            </a:r>
            <a:br/>
            <a:r>
              <a:t>• Predictions may be used too late, after major assessments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Student Exam Score Predictor – Python rule-based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100584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1005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PROPOSAL</a:t>
            </a:r>
          </a:p>
        </p:txBody>
      </p:sp>
      <p:sp>
        <p:nvSpPr>
          <p:cNvPr id="9" name="Oval 8"/>
          <p:cNvSpPr/>
          <p:nvPr/>
        </p:nvSpPr>
        <p:spPr>
          <a:xfrm>
            <a:off x="1207008" y="2148840"/>
            <a:ext cx="658368" cy="658368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2295144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743200"/>
            <a:ext cx="1783080" cy="192024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2743200"/>
            <a:ext cx="73152" cy="192024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889504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D"/>
                </a:solidFill>
                <a:latin typeface="Aptos Display"/>
              </a:defRPr>
            </a:pPr>
            <a:r>
              <a:t>Student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310128"/>
            <a:ext cx="1417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30">
                <a:solidFill>
                  <a:srgbClr val="202732"/>
                </a:solidFill>
                <a:latin typeface="Aptos"/>
              </a:defRPr>
            </a:pPr>
            <a:r>
              <a:t>Previous scores • attendance • study time • internal marks • assignments</a:t>
            </a:r>
          </a:p>
        </p:txBody>
      </p:sp>
      <p:sp>
        <p:nvSpPr>
          <p:cNvPr id="15" name="Chevron 14"/>
          <p:cNvSpPr/>
          <p:nvPr/>
        </p:nvSpPr>
        <p:spPr>
          <a:xfrm>
            <a:off x="2368296" y="3493008"/>
            <a:ext cx="201168" cy="347472"/>
          </a:xfrm>
          <a:prstGeom prst="chevron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08960" y="2148840"/>
            <a:ext cx="658368" cy="658368"/>
          </a:xfrm>
          <a:prstGeom prst="ellipse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0" y="2295144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96312" y="2743200"/>
            <a:ext cx="1783080" cy="192024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96312" y="2743200"/>
            <a:ext cx="73152" cy="192024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97480" y="2889504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D"/>
                </a:solidFill>
                <a:latin typeface="Aptos Display"/>
              </a:defRPr>
            </a:pPr>
            <a:r>
              <a:t>Data 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310128"/>
            <a:ext cx="1417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30">
                <a:solidFill>
                  <a:srgbClr val="202732"/>
                </a:solidFill>
                <a:latin typeface="Aptos"/>
              </a:defRPr>
            </a:pPr>
            <a:r>
              <a:t>Missing values • data validation • simple normalization</a:t>
            </a:r>
          </a:p>
        </p:txBody>
      </p:sp>
      <p:sp>
        <p:nvSpPr>
          <p:cNvPr id="22" name="Chevron 21"/>
          <p:cNvSpPr/>
          <p:nvPr/>
        </p:nvSpPr>
        <p:spPr>
          <a:xfrm>
            <a:off x="4270248" y="3493008"/>
            <a:ext cx="201168" cy="347472"/>
          </a:xfrm>
          <a:prstGeom prst="chevron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010912" y="2148840"/>
            <a:ext cx="658368" cy="658368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10912" y="2295144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2743200"/>
            <a:ext cx="1783080" cy="192024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98264" y="2743200"/>
            <a:ext cx="73152" cy="192024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9432" y="2889504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D"/>
                </a:solidFill>
                <a:latin typeface="Aptos Display"/>
              </a:defRPr>
            </a:pPr>
            <a:r>
              <a:t>Factor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3310128"/>
            <a:ext cx="1417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30">
                <a:solidFill>
                  <a:srgbClr val="202732"/>
                </a:solidFill>
                <a:latin typeface="Aptos"/>
              </a:defRPr>
            </a:pPr>
            <a:r>
              <a:t>Calculate contribution of attendance, internal marks, previous marks and study time</a:t>
            </a:r>
          </a:p>
        </p:txBody>
      </p:sp>
      <p:sp>
        <p:nvSpPr>
          <p:cNvPr id="29" name="Chevron 28"/>
          <p:cNvSpPr/>
          <p:nvPr/>
        </p:nvSpPr>
        <p:spPr>
          <a:xfrm>
            <a:off x="6172200" y="3493008"/>
            <a:ext cx="201168" cy="347472"/>
          </a:xfrm>
          <a:prstGeom prst="chevron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912864" y="2148840"/>
            <a:ext cx="658368" cy="658368"/>
          </a:xfrm>
          <a:prstGeom prst="ellipse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12864" y="2295144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216" y="2743200"/>
            <a:ext cx="1783080" cy="192024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0216" y="2743200"/>
            <a:ext cx="73152" cy="192024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01384" y="2889504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D"/>
                </a:solidFill>
                <a:latin typeface="Aptos Display"/>
              </a:defRPr>
            </a:pPr>
            <a:r>
              <a:t>Prediction Formula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1384" y="3310128"/>
            <a:ext cx="1417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30">
                <a:solidFill>
                  <a:srgbClr val="202732"/>
                </a:solidFill>
                <a:latin typeface="Aptos"/>
              </a:defRPr>
            </a:pPr>
            <a:r>
              <a:t>Apply a weighted formula to calculate the estimated exam score</a:t>
            </a:r>
          </a:p>
        </p:txBody>
      </p:sp>
      <p:sp>
        <p:nvSpPr>
          <p:cNvPr id="36" name="Chevron 35"/>
          <p:cNvSpPr/>
          <p:nvPr/>
        </p:nvSpPr>
        <p:spPr>
          <a:xfrm>
            <a:off x="8074152" y="3493008"/>
            <a:ext cx="201168" cy="347472"/>
          </a:xfrm>
          <a:prstGeom prst="chevron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814816" y="2148840"/>
            <a:ext cx="658368" cy="658368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14816" y="2295144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02168" y="2743200"/>
            <a:ext cx="1783080" cy="192024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02168" y="2743200"/>
            <a:ext cx="73152" cy="192024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03336" y="2889504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D"/>
                </a:solidFill>
                <a:latin typeface="Aptos Display"/>
              </a:defRPr>
            </a:pPr>
            <a:r>
              <a:t>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6" y="3310128"/>
            <a:ext cx="1417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30">
                <a:solidFill>
                  <a:srgbClr val="202732"/>
                </a:solidFill>
                <a:latin typeface="Aptos"/>
              </a:defRPr>
            </a:pPr>
            <a:r>
              <a:t>Compare predicted scores with actual scores using MAE and average error</a:t>
            </a:r>
          </a:p>
        </p:txBody>
      </p:sp>
      <p:sp>
        <p:nvSpPr>
          <p:cNvPr id="43" name="Chevron 42"/>
          <p:cNvSpPr/>
          <p:nvPr/>
        </p:nvSpPr>
        <p:spPr>
          <a:xfrm>
            <a:off x="9976104" y="3493008"/>
            <a:ext cx="201168" cy="347472"/>
          </a:xfrm>
          <a:prstGeom prst="chevron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716768" y="2148840"/>
            <a:ext cx="658368" cy="658368"/>
          </a:xfrm>
          <a:prstGeom prst="ellipse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716768" y="2295144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04120" y="2743200"/>
            <a:ext cx="1783080" cy="192024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104120" y="2743200"/>
            <a:ext cx="73152" cy="192024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305288" y="2889504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D"/>
                </a:solidFill>
                <a:latin typeface="Aptos Display"/>
              </a:defRPr>
            </a:pPr>
            <a:r>
              <a:t>Prediction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05288" y="3310128"/>
            <a:ext cx="1417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30">
                <a:solidFill>
                  <a:srgbClr val="202732"/>
                </a:solidFill>
                <a:latin typeface="Aptos"/>
              </a:defRPr>
            </a:pPr>
            <a:r>
              <a:t>Estimated exam score + performance category + key factors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Methodology &amp; Model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A reproducible pipeline for training and evaluating the predictor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91440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965960"/>
            <a:ext cx="73152" cy="1143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122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Data acquisition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328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Collect academic records and/or use a benchmark dataset such as UCI Student Performance for baseline experiments.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965960"/>
            <a:ext cx="73152" cy="114300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21122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Data cleaning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5328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Handle missing values, duplicates, inconsistent entries and outliers; encode categorical variables.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8328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383280"/>
            <a:ext cx="73152" cy="1143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52958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Exploratory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9502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Inspect score distributions and relationships between attendance, study habits, previous grades and outcomes.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38328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383280"/>
            <a:ext cx="73152" cy="114300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52958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Create prediction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9502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Define weights and score ranges; keep the calculation consistent for every student.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0060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4800600"/>
            <a:ext cx="73152" cy="1143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49469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Formula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3675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Test the formula on past student records and compare estimated scores with actual final scores.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80060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4800600"/>
            <a:ext cx="73152" cy="114300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64807" y="49469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Python implementation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53675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Use pandas for data handling, NumPy for calculations and Streamlit/Tkinter for the user interface.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Dataset &amp; 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Suggested variables for the Student Exam Score Predictor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86868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868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3383280" cy="150876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73152" cy="150876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5798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Academic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7860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10">
                <a:solidFill>
                  <a:srgbClr val="202732"/>
                </a:solidFill>
                <a:latin typeface="Aptos"/>
              </a:defRPr>
            </a:pPr>
            <a:r>
              <a:t>Previous exam marks, internal assessment, assignment scores, previous GPA/SGPA, failures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011680"/>
            <a:ext cx="3383280" cy="150876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2011680"/>
            <a:ext cx="73152" cy="150876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215798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Engagement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57860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10">
                <a:solidFill>
                  <a:srgbClr val="202732"/>
                </a:solidFill>
                <a:latin typeface="Aptos"/>
              </a:defRPr>
            </a:pPr>
            <a:r>
              <a:t>Attendance percentage, LMS activity, assignment completion, class participation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2011680"/>
            <a:ext cx="3383280" cy="150876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2011680"/>
            <a:ext cx="73152" cy="150876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5048" y="215798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Study habits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57860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10">
                <a:solidFill>
                  <a:srgbClr val="202732"/>
                </a:solidFill>
                <a:latin typeface="Aptos"/>
              </a:defRPr>
            </a:pPr>
            <a:r>
              <a:t>Study time, revision frequency, preparation time, learning resources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86200"/>
            <a:ext cx="3383280" cy="150876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886200"/>
            <a:ext cx="73152" cy="150876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403250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45312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10">
                <a:solidFill>
                  <a:srgbClr val="202732"/>
                </a:solidFill>
                <a:latin typeface="Aptos"/>
              </a:defRPr>
            </a:pPr>
            <a:r>
              <a:t>Midterm / internal marks, practical scores, quiz performance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886200"/>
            <a:ext cx="3383280" cy="150876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3886200"/>
            <a:ext cx="73152" cy="150876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36007" y="403250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7" y="445312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10">
                <a:solidFill>
                  <a:srgbClr val="202732"/>
                </a:solidFill>
                <a:latin typeface="Aptos"/>
              </a:defRPr>
            </a:pPr>
            <a:r>
              <a:t>Course, semester, subject, credit load, class section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3886200"/>
            <a:ext cx="3383280" cy="150876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79" y="3886200"/>
            <a:ext cx="73152" cy="150876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85048" y="403250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445312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10">
                <a:solidFill>
                  <a:srgbClr val="202732"/>
                </a:solidFill>
                <a:latin typeface="Aptos"/>
              </a:defRPr>
            </a:pPr>
            <a:r>
              <a:t>Final exam score (regression) or pass/fail / grade band (classification)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What the project should deliver by the final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100584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1005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965960"/>
            <a:ext cx="73152" cy="1078992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122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3288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Estimate a student's likely exam score or performance band before the final exam.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965960"/>
            <a:ext cx="73152" cy="1078992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21122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Prediction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53288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Compare predicted scores with actual scores using average error and percentage accuracy.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91839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291839"/>
            <a:ext cx="73152" cy="1078992"/>
          </a:xfrm>
          <a:prstGeom prst="rect">
            <a:avLst/>
          </a:prstGeom>
          <a:solidFill>
            <a:srgbClr val="27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43814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Early warning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85876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Flag students who may need additional academic support.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291839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291839"/>
            <a:ext cx="73152" cy="1078992"/>
          </a:xfrm>
          <a:prstGeom prst="rect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43814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Easy explanation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85876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Display the input values, weighted contributions and final estimated score.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61772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4617720"/>
            <a:ext cx="73152" cy="1078992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476402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Dashboard /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18464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Provide a simple interface for entering student inputs and viewing the result.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61772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4617720"/>
            <a:ext cx="73152" cy="1078992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64807" y="476402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Actionable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518464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Use predictions to guide mentoring—not to label or penalize students.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Research Papers to Cite in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Recommended references for the literature survey and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109728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561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310">
                <a:solidFill>
                  <a:srgbClr val="202732"/>
                </a:solidFill>
                <a:latin typeface="Aptos"/>
              </a:defRPr>
            </a:pPr>
            <a:r>
              <a:t>• 1. Tomasevic, N., Gvozdenovic, N., &amp; Vranes, S. (2020). “An overview and comparison of supervised data mining techniques for student exam performance prediction.” Computers &amp; Education, 143, 103676. DOI: 10.1016/j.compedu.2019.103676.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310">
                <a:solidFill>
                  <a:srgbClr val="202732"/>
                </a:solidFill>
                <a:latin typeface="Aptos"/>
              </a:defRPr>
            </a:pPr>
            <a:r>
              <a:t>• 2. Huang, S., Fang, N., &amp; others. (2021). “Educational Data Mining Techniques for Student Performance Prediction: Method Review and Comparison Analysis.” Frontiers in Psychology, 12, 698490. DOI: 10.3389/fpsyg.2021.698490.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310">
                <a:solidFill>
                  <a:srgbClr val="202732"/>
                </a:solidFill>
                <a:latin typeface="Aptos"/>
              </a:defRPr>
            </a:pPr>
            <a:r>
              <a:t>• 3. “Educational data mining: prediction of students’ academic performance using machine learning algorithms.” Smart Learning Environments (2022). DOI: 10.1186/s40561-022-00192-z.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310">
                <a:solidFill>
                  <a:srgbClr val="202732"/>
                </a:solidFill>
                <a:latin typeface="Aptos"/>
              </a:defRPr>
            </a:pPr>
            <a:r>
              <a:t>• 4. Khairy, D., Alharbi, N., Amasha, M. A., Areed, M. F., Alkhalaf, S., et al. (2024). “Prediction of student exam performance using data mining classification algorithms.” Education and Information Technologies, 29, 21621–21645. DOI: 10.1007/s10639-024-12619-w.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310">
                <a:solidFill>
                  <a:srgbClr val="202732"/>
                </a:solidFill>
                <a:latin typeface="Aptos"/>
              </a:defRPr>
            </a:pPr>
            <a:r>
              <a:t>• 5. “Predicting student performance: A comprehensive review of machine learning, deep learning, and explainable AI approaches.” Computers &amp; Education: Artificial Intelligence, 10 (2026), 100548. DOI: 10.1016/j.caeai.2026.100548.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29800" y="502920"/>
            <a:ext cx="1097280" cy="109728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29800" y="594360"/>
            <a:ext cx="1097280" cy="102412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25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93776"/>
            <a:ext cx="188595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75" b="1">
                <a:solidFill>
                  <a:srgbClr val="FFFFFF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1062" b="1">
                <a:solidFill>
                  <a:srgbClr val="EFB746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79552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Conclusion &amp; 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50292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920240"/>
            <a:ext cx="73152" cy="242316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066544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33D"/>
                </a:solidFill>
                <a:latin typeface="Aptos Display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487168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500">
                <a:solidFill>
                  <a:srgbClr val="202732"/>
                </a:solidFill>
                <a:latin typeface="Aptos"/>
              </a:defRPr>
            </a:pPr>
            <a:r>
              <a:t>Student Exam Score Predictor applies educational data mining and machine learning to estimate performance early enough for meaningful academic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0292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920240"/>
            <a:ext cx="73152" cy="2423160"/>
          </a:xfrm>
          <a:prstGeom prst="rect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2066544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33D"/>
                </a:solidFill>
                <a:latin typeface="Aptos Display"/>
              </a:defRPr>
            </a:pPr>
            <a: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487168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400">
                <a:solidFill>
                  <a:srgbClr val="202732"/>
                </a:solidFill>
                <a:latin typeface="Aptos"/>
              </a:defRPr>
            </a:pPr>
            <a:r>
              <a:t>1. Finalize dataset</a:t>
            </a:r>
            <a:br/>
            <a:r>
              <a:t>2. Clean and explore data</a:t>
            </a:r>
            <a:br/>
            <a:r>
              <a:t>3. Train baseline models</a:t>
            </a:r>
            <a:br/>
            <a:r>
              <a:t>4. Compare metrics</a:t>
            </a:r>
            <a:br/>
            <a:r>
              <a:t>5. Build prediction UI</a:t>
            </a:r>
            <a:br/>
            <a:r>
              <a:t>6. Validate, explain and document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7492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EFB746"/>
                </a:solidFill>
                <a:latin typeface="Aptos Display"/>
              </a:defRPr>
            </a:pPr>
            <a:r>
              <a:t>Thank You</a:t>
            </a:r>
          </a:p>
          <a:p>
            <a:pPr algn="ctr">
              <a:defRPr sz="1500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Box 4"/>
          <p:cNvSpPr txBox="1"/>
          <p:nvPr/>
        </p:nvSpPr>
        <p:spPr>
          <a:xfrm>
            <a:off x="73152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Python Implementation — No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Store student data: Use CSV/Excel files with attendance, previous marks, internal marks, assignments and study time.</a:t>
            </a:r>
          </a:p>
          <a:p>
            <a:pPr>
              <a:spcAft>
                <a:spcPts val="1000"/>
              </a:spcAft>
              <a:defRPr sz="1800"/>
            </a:pPr>
            <a:r>
              <a:t>2. Clean the data: Use pandas to remove duplicates, handle missing values and check valid ranges.</a:t>
            </a:r>
          </a:p>
          <a:p>
            <a:pPr>
              <a:spcAft>
                <a:spcPts val="1000"/>
              </a:spcAft>
              <a:defRPr sz="1800"/>
            </a:pPr>
            <a:r>
              <a:t>3. Calculate a weighted score: Example: 30% previous marks + 25% internal marks + 20% attendance + 15% assignments + 10% study time.</a:t>
            </a:r>
          </a:p>
          <a:p>
            <a:pPr>
              <a:spcAft>
                <a:spcPts val="1000"/>
              </a:spcAft>
              <a:defRPr sz="1800"/>
            </a:pPr>
            <a:r>
              <a:t>4. Generate prediction: Convert the weighted score into an estimated final exam score.</a:t>
            </a:r>
          </a:p>
          <a:p>
            <a:pPr>
              <a:spcAft>
                <a:spcPts val="1000"/>
              </a:spcAft>
              <a:defRPr sz="1800"/>
            </a:pPr>
            <a:r>
              <a:t>5. Classify performance: 80–100: Excellent, 60–79: Good, 40–59: Average, below 40: Needs Support.</a:t>
            </a:r>
          </a:p>
          <a:p>
            <a:pPr>
              <a:spcAft>
                <a:spcPts val="1000"/>
              </a:spcAft>
              <a:defRPr sz="1800"/>
            </a:pPr>
            <a:r>
              <a:t>6. Show result: Python displays the estimated score, performance category and the factors that affected the result.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6080760"/>
            <a:ext cx="100584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Predicted Score = 0.30×Previous + 0.25×Internal + 0.20×Attendance + 0.15×Assignment + 0.10×Study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19</TotalTime>
  <Words>1440</Words>
  <Application>Microsoft Office PowerPoint</Application>
  <PresentationFormat>Widescreen</PresentationFormat>
  <Paragraphs>217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Oswald SemiBold</vt:lpstr>
      <vt:lpstr>Univers Condensed Light</vt:lpstr>
      <vt:lpstr>Orange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Suraj Gaur</dc:creator>
  <cp:keywords/>
  <dc:description>generated using python-pptx</dc:description>
  <cp:lastModifiedBy>Suraj Gaur</cp:lastModifiedBy>
  <cp:revision>2</cp:revision>
  <dcterms:created xsi:type="dcterms:W3CDTF">2013-01-27T09:14:16Z</dcterms:created>
  <dcterms:modified xsi:type="dcterms:W3CDTF">2026-09-15T04:56:50Z</dcterms:modified>
  <cp:category/>
</cp:coreProperties>
</file>